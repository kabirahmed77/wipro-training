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688A9B-B9F9-40C5-84FC-8380A14957C4}" v="40" dt="2026-03-13T05:53:42.90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205B8-8CB6-88F0-7553-5A4BED6E07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CE71DD-3028-252B-4CB3-C4A8674DD2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4DF511-E1EA-BCA5-3064-3AEEBC413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2BC7A-0A0D-4C9C-9CD5-8D6614558FCB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DB5C20-B064-48EB-6725-0597B54E3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08D341-DFB1-A8E1-EFF1-C75F63225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01B85-942F-4EA1-AEAA-D8EAF606CA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70221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19542-25A4-54F2-ED91-72884BB38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D877D0-711D-2932-7639-8C2F97CA17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9A49B-5D71-897C-7E46-FB5EF6F3C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2BC7A-0A0D-4C9C-9CD5-8D6614558FCB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F73722-9956-C450-6A6B-687C430AF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30BE1B-6DD2-CCE6-A9B0-5532B685B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01B85-942F-4EA1-AEAA-D8EAF606CA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3224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86B1A-7C8B-C153-2E4C-9DB41CEB4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C75498-C3E6-CC5C-0E1C-AF444EC968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23E710-9038-F0C8-68C6-5FFD57E77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2BC7A-0A0D-4C9C-9CD5-8D6614558FCB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957301-9404-7136-F395-7AB92E910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196E3A-93C8-7EF3-47E0-FA8D9F2F3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01B85-942F-4EA1-AEAA-D8EAF606CA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7396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1DAEA-3644-2C63-FCC3-45F7A03C2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450A7C-8DAD-5443-95B3-9D9D7C6689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C31F22-C14B-953A-E81B-AF4E8B3049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E913B3-9C87-D552-18D9-8CE4551EE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2BC7A-0A0D-4C9C-9CD5-8D6614558FCB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554A38-F09D-691F-8013-E8CAD8769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BEDCA5-74C6-87CA-0239-4FC8BF55E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01B85-942F-4EA1-AEAA-D8EAF606CA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9274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78FFB-2862-410B-2363-4A3BCFECF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FB4B19-6223-5DAD-D119-B56D2C3989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12B8F8-A5D7-15A4-4B92-75F2408BE3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A8D61F-0DE0-B1BF-C726-B8EDB364CA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C47B49-A0B0-2454-BC48-8A8ECCBFB9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2DD0B1-1C20-57B6-93D6-48A415445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2BC7A-0A0D-4C9C-9CD5-8D6614558FCB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1A4F42-A39A-196E-4A71-945FB4B9D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C297D7-227A-77DF-252C-7617E5812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01B85-942F-4EA1-AEAA-D8EAF606CA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0871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019E8-7C62-73D9-BA55-DC67ADDFB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E90BCE-F28A-B9EA-960C-EE1B5B63E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2BC7A-0A0D-4C9C-9CD5-8D6614558FCB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539FD8-1B3B-78A5-15FB-6FDE9AB19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5DB74E-74D3-FF4C-CF55-517B32E59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01B85-942F-4EA1-AEAA-D8EAF606CA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7853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0795D8-92FA-EE7E-9710-394FE61B0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2BC7A-0A0D-4C9C-9CD5-8D6614558FCB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38D655-826C-FB51-D035-F1C64684F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F81C03-C9AA-7844-4716-2C5A6E822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01B85-942F-4EA1-AEAA-D8EAF606CA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7683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CEC0C-9010-C4FC-C370-111B9AEB1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80511-194D-479E-6932-D9F6772512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F3AE95-41DD-E41B-7466-9143A71D56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C1C7D2-6AAD-9A3B-4450-B8D6517A2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2BC7A-0A0D-4C9C-9CD5-8D6614558FCB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4C1E17-E278-F7FD-A68D-E0E8D8D77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588142-40CF-C49B-6BC5-09A452D1F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01B85-942F-4EA1-AEAA-D8EAF606CA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8079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D7980-8F49-81A3-54B2-9A723DC99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1888F8-6470-5F84-8CF1-6DC10781DD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C5434B-ACBA-A1EF-48F4-F9F7BF3583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73E0EE-4356-B74D-1CC8-E42DBAEB9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2BC7A-0A0D-4C9C-9CD5-8D6614558FCB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BACDD1-3CB2-0DB4-29E8-D52460676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32051A-D840-EE48-1EEF-C1BFB3335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01B85-942F-4EA1-AEAA-D8EAF606CA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5270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D3064-B86F-CBF7-E5DE-3FAB623BC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13BDC5-8E05-AC17-89C9-BB5476CE30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8B7539-C12B-6163-F15E-35D59318B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2BC7A-0A0D-4C9C-9CD5-8D6614558FCB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77E74C-8FBE-1849-A085-215AC62D3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67116-A3AE-2166-C5D3-6B0265EE2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01B85-942F-4EA1-AEAA-D8EAF606CA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4882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B0B9E8-09C1-9762-CC7F-4FF3F38581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6AF8F4-B289-8A08-1E82-FB84033BFA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A5F3F7-8DDC-F032-8214-3281C77B9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2BC7A-0A0D-4C9C-9CD5-8D6614558FCB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C3D825-A0CE-538E-8D5C-F0B0A30DC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EC3587-29BE-0651-21CA-B31840AD0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01B85-942F-4EA1-AEAA-D8EAF606CA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4722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55F7C9-FBD4-9E99-F5FF-D976297E9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0AF19-0C49-EE73-1282-1FC8ED521B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7D9D53-20C8-2A7C-0D7F-87DC27F678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42BC7A-0A0D-4C9C-9CD5-8D6614558FCB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5A5BFA-5869-B0D3-1FE0-BE33E8E08B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7DB0-8CD7-1B9D-3E5F-6DAA233233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201B85-942F-4EA1-AEAA-D8EAF606CA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528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23EC8-37BC-9C88-EFB0-7165C3E0C9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8929" y="737419"/>
            <a:ext cx="10019071" cy="1366684"/>
          </a:xfrm>
        </p:spPr>
        <p:txBody>
          <a:bodyPr>
            <a:normAutofit/>
          </a:bodyPr>
          <a:lstStyle/>
          <a:p>
            <a:r>
              <a:rPr lang="en-US" sz="4000" b="1" dirty="0"/>
              <a:t>Enterprise Reporting &amp; Automation Strategy – </a:t>
            </a:r>
            <a:r>
              <a:rPr lang="en-US" sz="4000" b="1" dirty="0" err="1"/>
              <a:t>RetailHub</a:t>
            </a:r>
            <a:r>
              <a:rPr lang="en-US" sz="4000" b="1" dirty="0"/>
              <a:t> Pvt Ltd</a:t>
            </a:r>
            <a:endParaRPr lang="en-IN" sz="4000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AB2ED0E-92BC-311E-C886-96089968DD7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524000" y="3691256"/>
            <a:ext cx="8121445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Submitted by: Kabir Ahmed 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Date: 13/03/2026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Course: Day 27-29 Assessment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8106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E075E-EC7A-9658-B1C1-A9D9D49FB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Problem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5BA48-EDCE-220B-05CC-3302595928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Challenges at </a:t>
            </a:r>
            <a:r>
              <a:rPr lang="en-IN" dirty="0" err="1"/>
              <a:t>RetailHub</a:t>
            </a:r>
            <a:endParaRPr lang="en-IN" dirty="0"/>
          </a:p>
          <a:p>
            <a:pPr marL="0" indent="0">
              <a:buNone/>
            </a:pPr>
            <a:br>
              <a:rPr lang="en-IN" dirty="0"/>
            </a:br>
            <a:r>
              <a:rPr lang="en-US" dirty="0"/>
              <a:t>Manual daily sales reports</a:t>
            </a:r>
          </a:p>
          <a:p>
            <a:r>
              <a:rPr lang="en-US" dirty="0"/>
              <a:t>Manual financial reporting</a:t>
            </a:r>
          </a:p>
          <a:p>
            <a:r>
              <a:rPr lang="en-US" dirty="0"/>
              <a:t>No real-time inventory visibility</a:t>
            </a:r>
          </a:p>
          <a:p>
            <a:r>
              <a:rPr lang="en-US" dirty="0"/>
              <a:t>Repetitive customer queries</a:t>
            </a:r>
          </a:p>
          <a:p>
            <a:r>
              <a:rPr lang="en-US" dirty="0"/>
              <a:t>Fragmented data across systems</a:t>
            </a:r>
          </a:p>
          <a:p>
            <a:r>
              <a:rPr lang="en-US" dirty="0"/>
              <a:t>Operational inefficiencies due to spreadsheets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86097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F1882-2C53-0141-E1EE-3312A8701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Power Platform Solution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F10AAFC-8C1D-CDB5-F158-F2578FC32E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3330741"/>
              </p:ext>
            </p:extLst>
          </p:nvPr>
        </p:nvGraphicFramePr>
        <p:xfrm>
          <a:off x="1088103" y="1763360"/>
          <a:ext cx="8763819" cy="38204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1273">
                  <a:extLst>
                    <a:ext uri="{9D8B030D-6E8A-4147-A177-3AD203B41FA5}">
                      <a16:colId xmlns:a16="http://schemas.microsoft.com/office/drawing/2014/main" val="2953385011"/>
                    </a:ext>
                  </a:extLst>
                </a:gridCol>
                <a:gridCol w="2921273">
                  <a:extLst>
                    <a:ext uri="{9D8B030D-6E8A-4147-A177-3AD203B41FA5}">
                      <a16:colId xmlns:a16="http://schemas.microsoft.com/office/drawing/2014/main" val="2325262482"/>
                    </a:ext>
                  </a:extLst>
                </a:gridCol>
                <a:gridCol w="2921273">
                  <a:extLst>
                    <a:ext uri="{9D8B030D-6E8A-4147-A177-3AD203B41FA5}">
                      <a16:colId xmlns:a16="http://schemas.microsoft.com/office/drawing/2014/main" val="1358590807"/>
                    </a:ext>
                  </a:extLst>
                </a:gridCol>
              </a:tblGrid>
              <a:tr h="6294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Business Problem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Power Platform 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</a:t>
                      </a:r>
                      <a:r>
                        <a:rPr lang="en-IN" dirty="0"/>
                        <a:t>Proposed Solution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3314184"/>
                  </a:ext>
                </a:extLst>
              </a:tr>
              <a:tr h="6382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Business Problem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Power Platform Tool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Proposed Solution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155423"/>
                  </a:ext>
                </a:extLst>
              </a:tr>
              <a:tr h="6382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Lack of business insights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Power BI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Interactive dashboards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9459477"/>
                  </a:ext>
                </a:extLst>
              </a:tr>
              <a:tr h="6382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Manual HR processes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Power Apps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Employee management app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0345471"/>
                  </a:ext>
                </a:extLst>
              </a:tr>
              <a:tr h="6382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Repetitive approvals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Power Automate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Automated workflows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0815465"/>
                  </a:ext>
                </a:extLst>
              </a:tr>
              <a:tr h="6382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Customer queries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Power Virtual Agents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AI Chatbot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75394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62675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7B2E6-E5A2-935D-5468-DFA85DF46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SSRS Reporting Strategy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C3B7CBA-181F-C868-9774-4A2F0029508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86350"/>
            <a:ext cx="9367684" cy="3447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Best for paginated, operational, and financial reports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Ideal for precise, scheduled, printable reports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Examples for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RetailHub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Daily store sales reports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Monthly financial statements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Inventory summary reports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Invoice reports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56930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AC574-394C-383B-DFE6-6A2B1D7EF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3961"/>
            <a:ext cx="10515600" cy="1228572"/>
          </a:xfrm>
        </p:spPr>
        <p:txBody>
          <a:bodyPr/>
          <a:lstStyle/>
          <a:p>
            <a:r>
              <a:rPr lang="en-IN" b="1" dirty="0"/>
              <a:t>SSRS vs Power BI Comparison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5E87F20-0F88-6326-DE37-694D77321D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285344"/>
              </p:ext>
            </p:extLst>
          </p:nvPr>
        </p:nvGraphicFramePr>
        <p:xfrm>
          <a:off x="720213" y="1412669"/>
          <a:ext cx="10515597" cy="43929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1778711707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244538799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268425344"/>
                    </a:ext>
                  </a:extLst>
                </a:gridCol>
              </a:tblGrid>
              <a:tr h="7321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Criteria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SSRS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Power BI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337314"/>
                  </a:ext>
                </a:extLst>
              </a:tr>
              <a:tr h="7321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Reporting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Paginated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Interactive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8911646"/>
                  </a:ext>
                </a:extLst>
              </a:tr>
              <a:tr h="7321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Best use 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Operational &amp; financial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Business analytics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7543206"/>
                  </a:ext>
                </a:extLst>
              </a:tr>
              <a:tr h="7321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Visualization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Basic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Advanced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046979"/>
                  </a:ext>
                </a:extLst>
              </a:tr>
              <a:tr h="7321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User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9532107"/>
                  </a:ext>
                </a:extLst>
              </a:tr>
              <a:tr h="7321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refresh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Scheduled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Real-time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75546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78117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590A5-72F2-62D4-D540-3DC6BB7B4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Solution Architecture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BCADD0-8247-193A-533E-ADC63F924802}"/>
              </a:ext>
            </a:extLst>
          </p:cNvPr>
          <p:cNvSpPr/>
          <p:nvPr/>
        </p:nvSpPr>
        <p:spPr>
          <a:xfrm>
            <a:off x="838200" y="1612491"/>
            <a:ext cx="2799735" cy="914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/>
              <a:t>Data Sources</a:t>
            </a: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2F5D54-FEEF-DEA3-1D54-903FFC095D8B}"/>
              </a:ext>
            </a:extLst>
          </p:cNvPr>
          <p:cNvSpPr/>
          <p:nvPr/>
        </p:nvSpPr>
        <p:spPr>
          <a:xfrm>
            <a:off x="838200" y="2762865"/>
            <a:ext cx="2799735" cy="84557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SQL Server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94D2C8-4C78-556B-6CE1-4D29C147311E}"/>
              </a:ext>
            </a:extLst>
          </p:cNvPr>
          <p:cNvSpPr/>
          <p:nvPr/>
        </p:nvSpPr>
        <p:spPr>
          <a:xfrm>
            <a:off x="924232" y="3805084"/>
            <a:ext cx="2799735" cy="914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SSRS Reports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C69263-E4A1-078E-0107-B2DCC3CCB4FD}"/>
              </a:ext>
            </a:extLst>
          </p:cNvPr>
          <p:cNvSpPr/>
          <p:nvPr/>
        </p:nvSpPr>
        <p:spPr>
          <a:xfrm>
            <a:off x="1150374" y="5053781"/>
            <a:ext cx="2713703" cy="914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Power BI Dashboards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C42300-DBE4-3074-CBE6-D68FAB9BCD0F}"/>
              </a:ext>
            </a:extLst>
          </p:cNvPr>
          <p:cNvSpPr/>
          <p:nvPr/>
        </p:nvSpPr>
        <p:spPr>
          <a:xfrm>
            <a:off x="4768645" y="5053781"/>
            <a:ext cx="2802193" cy="83574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Power Apps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10C23D0-FDAE-259E-0D43-034197E1CA2E}"/>
              </a:ext>
            </a:extLst>
          </p:cNvPr>
          <p:cNvSpPr/>
          <p:nvPr/>
        </p:nvSpPr>
        <p:spPr>
          <a:xfrm>
            <a:off x="4768645" y="4021394"/>
            <a:ext cx="2310581" cy="69809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/>
              <a:t>Power Automate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B103754-FA14-71E3-404A-89AD3B02D8A1}"/>
              </a:ext>
            </a:extLst>
          </p:cNvPr>
          <p:cNvSpPr/>
          <p:nvPr/>
        </p:nvSpPr>
        <p:spPr>
          <a:xfrm>
            <a:off x="4640826" y="2871019"/>
            <a:ext cx="2799735" cy="71775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/>
              <a:t>Power Virtual Agents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2F0A1C3-D414-77E1-C2BD-C163568F2CF7}"/>
              </a:ext>
            </a:extLst>
          </p:cNvPr>
          <p:cNvCxnSpPr/>
          <p:nvPr/>
        </p:nvCxnSpPr>
        <p:spPr>
          <a:xfrm>
            <a:off x="2104103" y="2526891"/>
            <a:ext cx="0" cy="2359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411C74AB-239A-019D-15E5-2C75B89CB0E0}"/>
              </a:ext>
            </a:extLst>
          </p:cNvPr>
          <p:cNvSpPr/>
          <p:nvPr/>
        </p:nvSpPr>
        <p:spPr>
          <a:xfrm>
            <a:off x="838200" y="2782530"/>
            <a:ext cx="2799735" cy="84557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SQL Server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BE837D9-047A-F82A-5ED9-69838B8ECF03}"/>
              </a:ext>
            </a:extLst>
          </p:cNvPr>
          <p:cNvCxnSpPr/>
          <p:nvPr/>
        </p:nvCxnSpPr>
        <p:spPr>
          <a:xfrm>
            <a:off x="2104103" y="2546556"/>
            <a:ext cx="0" cy="2359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7FF2C43-7DB9-2E96-7174-B1ED8800DF0F}"/>
              </a:ext>
            </a:extLst>
          </p:cNvPr>
          <p:cNvCxnSpPr>
            <a:stCxn id="13" idx="2"/>
          </p:cNvCxnSpPr>
          <p:nvPr/>
        </p:nvCxnSpPr>
        <p:spPr>
          <a:xfrm>
            <a:off x="2238068" y="3628104"/>
            <a:ext cx="3687" cy="1769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02408F0-41E4-86D8-ECAF-7F199EB60CEC}"/>
              </a:ext>
            </a:extLst>
          </p:cNvPr>
          <p:cNvCxnSpPr>
            <a:stCxn id="6" idx="2"/>
          </p:cNvCxnSpPr>
          <p:nvPr/>
        </p:nvCxnSpPr>
        <p:spPr>
          <a:xfrm>
            <a:off x="2324100" y="4719484"/>
            <a:ext cx="94635" cy="3342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AF61544-600A-D257-5448-554BAE2AE348}"/>
              </a:ext>
            </a:extLst>
          </p:cNvPr>
          <p:cNvCxnSpPr>
            <a:stCxn id="7" idx="3"/>
          </p:cNvCxnSpPr>
          <p:nvPr/>
        </p:nvCxnSpPr>
        <p:spPr>
          <a:xfrm>
            <a:off x="3864077" y="5510981"/>
            <a:ext cx="9045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8B26B32-847F-49FF-513E-9D58053EB4C7}"/>
              </a:ext>
            </a:extLst>
          </p:cNvPr>
          <p:cNvCxnSpPr/>
          <p:nvPr/>
        </p:nvCxnSpPr>
        <p:spPr>
          <a:xfrm flipV="1">
            <a:off x="5663381" y="4719484"/>
            <a:ext cx="0" cy="2654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F636965-73B8-0D6D-9610-34A3A601A4CB}"/>
              </a:ext>
            </a:extLst>
          </p:cNvPr>
          <p:cNvCxnSpPr/>
          <p:nvPr/>
        </p:nvCxnSpPr>
        <p:spPr>
          <a:xfrm flipV="1">
            <a:off x="5673213" y="3588774"/>
            <a:ext cx="0" cy="4326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48683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C3A9E-9CFB-53DB-49BC-6A8BBFCBC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Final Reflection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C69740-79B9-D1A0-C6B0-1482728375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Combining Power Platform and SSRS gives the best of both worlds – accurate operational reports with SSRS and dynamic, automated solutions with Power Platform. </a:t>
            </a:r>
          </a:p>
          <a:p>
            <a:endParaRPr lang="en-US" dirty="0"/>
          </a:p>
          <a:p>
            <a:r>
              <a:rPr lang="en-US" dirty="0"/>
              <a:t>This approach enhances efficiency, improves decision-making, and boosts customer satisfaction.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31090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228</Words>
  <Application>Microsoft Office PowerPoint</Application>
  <PresentationFormat>Widescreen</PresentationFormat>
  <Paragraphs>76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Arial Unicode MS</vt:lpstr>
      <vt:lpstr>Calibri</vt:lpstr>
      <vt:lpstr>Calibri Light</vt:lpstr>
      <vt:lpstr>Office Theme</vt:lpstr>
      <vt:lpstr>Enterprise Reporting &amp; Automation Strategy – RetailHub Pvt Ltd</vt:lpstr>
      <vt:lpstr>Problem Analysis</vt:lpstr>
      <vt:lpstr>Power Platform Solution</vt:lpstr>
      <vt:lpstr>SSRS Reporting Strategy</vt:lpstr>
      <vt:lpstr>SSRS vs Power BI Comparison</vt:lpstr>
      <vt:lpstr>Solution Architecture</vt:lpstr>
      <vt:lpstr>Final Reflection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Kabir Ahmed</dc:creator>
  <cp:lastModifiedBy>Kabir Ahmed</cp:lastModifiedBy>
  <cp:revision>2</cp:revision>
  <dcterms:created xsi:type="dcterms:W3CDTF">2026-03-13T05:33:14Z</dcterms:created>
  <dcterms:modified xsi:type="dcterms:W3CDTF">2026-03-13T05:55:04Z</dcterms:modified>
</cp:coreProperties>
</file>